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1" r:id="rId7"/>
    <p:sldId id="277" r:id="rId8"/>
    <p:sldId id="278" r:id="rId9"/>
    <p:sldId id="279" r:id="rId10"/>
    <p:sldId id="272" r:id="rId11"/>
    <p:sldId id="281" r:id="rId12"/>
    <p:sldId id="262" r:id="rId13"/>
    <p:sldId id="270" r:id="rId14"/>
    <p:sldId id="261" r:id="rId15"/>
    <p:sldId id="274" r:id="rId16"/>
    <p:sldId id="273" r:id="rId17"/>
    <p:sldId id="263" r:id="rId18"/>
    <p:sldId id="265" r:id="rId19"/>
    <p:sldId id="283" r:id="rId20"/>
    <p:sldId id="280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 Song" initials="FS" lastIdx="12" clrIdx="0">
    <p:extLst>
      <p:ext uri="{19B8F6BF-5375-455C-9EA6-DF929625EA0E}">
        <p15:presenceInfo xmlns:p15="http://schemas.microsoft.com/office/powerpoint/2012/main" userId="S-1-5-21-1081647397-1933531500-2933290928-586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C6255"/>
    <a:srgbClr val="D3A0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9496" autoAdjust="0"/>
  </p:normalViewPr>
  <p:slideViewPr>
    <p:cSldViewPr snapToGrid="0">
      <p:cViewPr>
        <p:scale>
          <a:sx n="66" d="100"/>
          <a:sy n="66" d="100"/>
        </p:scale>
        <p:origin x="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06:16.621" idx="1">
    <p:pos x="4745" y="2386"/>
    <p:text>这是一个要做的系统吗？初步的想法是？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11:54.990" idx="3">
    <p:pos x="7425" y="2605"/>
    <p:text>oil only？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16:34.879" idx="4">
    <p:pos x="10" y="10"/>
    <p:text>food依然是维护费的吧？其他两种资源会有维护性质的部分吗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18:48.949" idx="5">
    <p:pos x="10" y="10"/>
    <p:text>wanderer的逻辑是？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21:01.396" idx="6">
    <p:pos x="2395" y="2651"/>
    <p:text>沙尘暴刮开的就是迷雾地区吗？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23:16.890" idx="7">
    <p:pos x="10" y="10"/>
    <p:text>有弹药类消耗品吗</p:text>
    <p:extLst>
      <p:ext uri="{C676402C-5697-4E1C-873F-D02D1690AC5C}">
        <p15:threadingInfo xmlns:p15="http://schemas.microsoft.com/office/powerpoint/2012/main" timeZoneBias="-480"/>
      </p:ext>
    </p:extLst>
  </p:cm>
  <p:cm authorId="1" dt="2014-07-22T17:48:04.648" idx="12">
    <p:pos x="10" y="146"/>
    <p:text>优先级比较低</p:text>
    <p:extLst>
      <p:ext uri="{C676402C-5697-4E1C-873F-D02D1690AC5C}">
        <p15:threadingInfo xmlns:p15="http://schemas.microsoft.com/office/powerpoint/2012/main" timeZoneBias="-480">
          <p15:parentCm authorId="1" idx="7"/>
        </p15:threadingInfo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31:26.224" idx="8">
    <p:pos x="10" y="10"/>
    <p:text>campaign的优先级高吗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37:21.531" idx="9">
    <p:pos x="3273" y="4123"/>
    <p:text>Resource ramping is slower than expected and impacts complexity of launch features
是指什么？</p:text>
    <p:extLst mod="1">
      <p:ext uri="{C676402C-5697-4E1C-873F-D02D1690AC5C}">
        <p15:threadingInfo xmlns:p15="http://schemas.microsoft.com/office/powerpoint/2012/main" timeZoneBias="-480"/>
      </p:ext>
    </p:extLst>
  </p:cm>
  <p:cm authorId="1" dt="2014-07-22T16:37:50.157" idx="10">
    <p:pos x="10" y="10"/>
    <p:text>WW release 是worldwide release 吗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7-22T16:38:20.317" idx="11">
    <p:pos x="6638" y="1317"/>
    <p:text>DHD的地图竞争性与GoW差别主要在？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4BC8F-D592-408D-A189-E729D7004B50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5131E-0173-478B-8A36-59707DDA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6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JW:</a:t>
            </a:r>
            <a:r>
              <a:rPr lang="en-US" baseline="0" dirty="0" smtClean="0"/>
              <a:t> wordsmithed – minor changes – want to move away from DHD/ medieval terms like realm and troops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11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JW minor </a:t>
            </a:r>
            <a:r>
              <a:rPr lang="en-US" dirty="0" err="1" smtClean="0"/>
              <a:t>wordsmithing</a:t>
            </a:r>
            <a:r>
              <a:rPr lang="en-US" baseline="0" dirty="0" smtClean="0"/>
              <a:t> – removed reference to comical violence – don’t think WB would think that fits the franchise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4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Jw</a:t>
            </a:r>
            <a:r>
              <a:rPr lang="en-US" baseline="0" dirty="0" smtClean="0"/>
              <a:t> changed strategies to strategic choices – can we find a better word that Kingdom?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9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Fixed typo,</a:t>
            </a:r>
            <a:r>
              <a:rPr lang="en-US" baseline="0" dirty="0" smtClean="0"/>
              <a:t> minor </a:t>
            </a:r>
            <a:r>
              <a:rPr lang="en-US" baseline="0" dirty="0" err="1" smtClean="0"/>
              <a:t>wordsmithing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0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Minor </a:t>
            </a:r>
            <a:r>
              <a:rPr lang="en-US" dirty="0" err="1" smtClean="0"/>
              <a:t>wordsmithing</a:t>
            </a:r>
            <a:r>
              <a:rPr lang="en-US" dirty="0" smtClean="0"/>
              <a:t> – any other visual indicators?  Oil derricks pumping?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4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Changed kingdoms to strongholds – Events will likely need</a:t>
            </a:r>
            <a:r>
              <a:rPr lang="en-US" baseline="0" dirty="0" smtClean="0"/>
              <a:t> additional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35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Kingdom?  Like world / shard?  Or Stronghold?</a:t>
            </a:r>
          </a:p>
          <a:p>
            <a:endParaRPr lang="en-US" dirty="0" smtClean="0"/>
          </a:p>
          <a:p>
            <a:r>
              <a:rPr lang="en-US" dirty="0" smtClean="0"/>
              <a:t>Landmark</a:t>
            </a:r>
            <a:r>
              <a:rPr lang="en-US" baseline="0" dirty="0" smtClean="0"/>
              <a:t> – can we offer </a:t>
            </a:r>
            <a:r>
              <a:rPr lang="en-US" baseline="0" smtClean="0"/>
              <a:t>any examples yet?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86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Changed stickers to decals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8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39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5131E-0173-478B-8A36-59707DDA415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2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82245"/>
            <a:ext cx="10515600" cy="1040163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/>
                </a:solidFill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marL="361950" lvl="0" indent="-3619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10515600" cy="4762049"/>
          </a:xfrm>
          <a:noFill/>
        </p:spPr>
        <p:txBody>
          <a:bodyPr/>
          <a:lstStyle>
            <a:lvl1pPr marL="361950" indent="-36195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9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8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9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1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79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2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9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5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05B11-6986-4E3C-9EEE-58D3AE5789F1}" type="datetimeFigureOut">
              <a:rPr lang="en-US" smtClean="0"/>
              <a:t>7/22/2014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07025-EE4B-478B-9539-F82E29EC8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9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08496"/>
            <a:ext cx="9144000" cy="110451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DESIGN OVERVIEW</a:t>
            </a:r>
            <a:endParaRPr lang="en-US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6227804"/>
            <a:ext cx="9144000" cy="232719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5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8407"/>
            <a:ext cx="10515600" cy="354398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/>
              <a:t>Over the ruins of the old world, ruthless leaders </a:t>
            </a:r>
            <a:r>
              <a:rPr lang="en-US" sz="3200" dirty="0" smtClean="0"/>
              <a:t>are establishing new realms. </a:t>
            </a:r>
            <a:r>
              <a:rPr lang="en-US" sz="3200" dirty="0"/>
              <a:t>You’re </a:t>
            </a:r>
            <a:r>
              <a:rPr lang="en-US" sz="3200" dirty="0" smtClean="0"/>
              <a:t>one of those leaders, leading an emerging warrior band. </a:t>
            </a:r>
          </a:p>
          <a:p>
            <a:pPr marL="0" indent="0" algn="ctr">
              <a:buNone/>
            </a:pPr>
            <a:endParaRPr lang="en-US" sz="1000" dirty="0" smtClean="0"/>
          </a:p>
          <a:p>
            <a:pPr marL="0" indent="0" algn="ctr">
              <a:buNone/>
            </a:pPr>
            <a:r>
              <a:rPr lang="en-US" sz="3200" dirty="0" smtClean="0"/>
              <a:t>Compete against other tribes for scarce resources to upgrade and defend your stronghold while building a strong army of armored vehicles.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5315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Mad Max Pillars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14914"/>
            <a:ext cx="11205519" cy="535658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Compete for the control of resources</a:t>
            </a:r>
            <a:endParaRPr lang="en-US" sz="2400" dirty="0"/>
          </a:p>
          <a:p>
            <a:pPr lvl="1"/>
            <a:r>
              <a:rPr lang="en-US" sz="2000" dirty="0" smtClean="0"/>
              <a:t>Post-apocalyptic world where every </a:t>
            </a:r>
            <a:r>
              <a:rPr lang="en-US" sz="2000" dirty="0"/>
              <a:t>day is a battle for survival.</a:t>
            </a:r>
          </a:p>
          <a:p>
            <a:pPr lvl="1"/>
            <a:r>
              <a:rPr lang="en-US" sz="2000" dirty="0" smtClean="0"/>
              <a:t>Most resources are scattered across the wastelands. Few can be produced in camp.</a:t>
            </a:r>
          </a:p>
          <a:p>
            <a:pPr lvl="1"/>
            <a:r>
              <a:rPr lang="en-US" sz="2000" dirty="0" smtClean="0"/>
              <a:t>Battling is the main way to get most resources, alone and with allies.</a:t>
            </a:r>
          </a:p>
          <a:p>
            <a:pPr lvl="1"/>
            <a:endParaRPr lang="en-US" sz="1000" dirty="0"/>
          </a:p>
          <a:p>
            <a:r>
              <a:rPr lang="en-US" sz="2400" dirty="0" smtClean="0"/>
              <a:t>Heroic Vehicles</a:t>
            </a:r>
            <a:endParaRPr lang="en-US" sz="2400" dirty="0"/>
          </a:p>
          <a:p>
            <a:pPr lvl="1"/>
            <a:r>
              <a:rPr lang="en-US" sz="2000" dirty="0" smtClean="0"/>
              <a:t>Cars are the most important possession. They always look ready to face any danger.</a:t>
            </a:r>
            <a:endParaRPr lang="en-US" sz="2000" dirty="0"/>
          </a:p>
          <a:p>
            <a:pPr lvl="1"/>
            <a:r>
              <a:rPr lang="en-US" sz="2000" dirty="0" smtClean="0"/>
              <a:t>Players get great satisfaction from customizing their cars.</a:t>
            </a:r>
            <a:endParaRPr lang="en-US" sz="2000" dirty="0"/>
          </a:p>
          <a:p>
            <a:pPr lvl="1"/>
            <a:r>
              <a:rPr lang="en-US" sz="2000" dirty="0" smtClean="0"/>
              <a:t>Players will throw their cars into battles to show off their power.</a:t>
            </a:r>
            <a:endParaRPr lang="en-US" sz="2000" dirty="0"/>
          </a:p>
          <a:p>
            <a:endParaRPr lang="en-US" sz="1000" dirty="0" smtClean="0"/>
          </a:p>
          <a:p>
            <a:r>
              <a:rPr lang="en-US" sz="2400" dirty="0" smtClean="0"/>
              <a:t>It’s a harsh world</a:t>
            </a:r>
          </a:p>
          <a:p>
            <a:pPr lvl="1"/>
            <a:r>
              <a:rPr lang="en-US" sz="2000" dirty="0" smtClean="0"/>
              <a:t>There is no noble cause. The </a:t>
            </a:r>
            <a:r>
              <a:rPr lang="en-US" sz="2000" dirty="0"/>
              <a:t>player’s role is to ensure the daily survival of his people.</a:t>
            </a:r>
          </a:p>
          <a:p>
            <a:pPr lvl="1"/>
            <a:r>
              <a:rPr lang="en-US" sz="2000" dirty="0" smtClean="0"/>
              <a:t>In the Campaign there are no good people, just survivors. </a:t>
            </a:r>
          </a:p>
          <a:p>
            <a:pPr lvl="1"/>
            <a:r>
              <a:rPr lang="en-US" sz="2000" dirty="0" smtClean="0"/>
              <a:t>Max is a work-for-hire, not your friend</a:t>
            </a:r>
          </a:p>
          <a:p>
            <a:pPr lvl="1"/>
            <a:r>
              <a:rPr lang="en-US" sz="2000" dirty="0" smtClean="0"/>
              <a:t>Violence level is similar to Mad Max 3 (action-based, not gory)</a:t>
            </a:r>
          </a:p>
        </p:txBody>
      </p:sp>
    </p:spTree>
    <p:extLst>
      <p:ext uri="{BB962C8B-B14F-4D97-AF65-F5344CB8AC3E}">
        <p14:creationId xmlns:p14="http://schemas.microsoft.com/office/powerpoint/2010/main" val="253855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Manage your stronghold to produce resources necessary for survival.</a:t>
            </a:r>
          </a:p>
          <a:p>
            <a:endParaRPr lang="en-US" sz="1000" dirty="0" smtClean="0"/>
          </a:p>
          <a:p>
            <a:r>
              <a:rPr lang="en-US" sz="2400" dirty="0" smtClean="0"/>
              <a:t>Compete in </a:t>
            </a:r>
            <a:r>
              <a:rPr lang="en-US" sz="2400" dirty="0"/>
              <a:t>the World Map </a:t>
            </a:r>
            <a:r>
              <a:rPr lang="en-US" sz="2400" dirty="0" smtClean="0"/>
              <a:t>to control main  resource production. Also compete for best rewards and Leaderboards.</a:t>
            </a:r>
          </a:p>
          <a:p>
            <a:endParaRPr lang="en-US" sz="1000" dirty="0"/>
          </a:p>
          <a:p>
            <a:r>
              <a:rPr lang="en-US" sz="2400" dirty="0" smtClean="0"/>
              <a:t>Unlock blueprints and recycle your squads for more powerful vehicles.</a:t>
            </a:r>
          </a:p>
          <a:p>
            <a:endParaRPr lang="en-US" sz="1000" dirty="0" smtClean="0"/>
          </a:p>
          <a:p>
            <a:r>
              <a:rPr lang="en-US" sz="2400" dirty="0" smtClean="0"/>
              <a:t>Upgrade and customize your Hero Cars for extra power and strategic choices.</a:t>
            </a:r>
          </a:p>
          <a:p>
            <a:endParaRPr lang="en-US" sz="1000" dirty="0" smtClean="0"/>
          </a:p>
          <a:p>
            <a:r>
              <a:rPr lang="en-US" sz="2400" dirty="0" smtClean="0"/>
              <a:t>Progress through the Campaign, compete with a nemesis stronghold to collect resources and practice battle tactics.</a:t>
            </a:r>
          </a:p>
          <a:p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319640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 your stronghold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10991850" cy="532670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Send Collectors into the wilderness to bring back Scrap Metal, Oil and Junk. Arm them against scavenger bands.</a:t>
            </a:r>
          </a:p>
          <a:p>
            <a:endParaRPr lang="en-US" sz="1000" dirty="0" smtClean="0"/>
          </a:p>
          <a:p>
            <a:r>
              <a:rPr lang="en-US" sz="2400" dirty="0" smtClean="0"/>
              <a:t>Use Junk to build and upgrade structures to collect and store resources </a:t>
            </a:r>
            <a:r>
              <a:rPr lang="en-US" sz="2400" dirty="0"/>
              <a:t>necessary </a:t>
            </a:r>
            <a:r>
              <a:rPr lang="en-US" sz="2400" dirty="0" smtClean="0"/>
              <a:t>for maintaining your troops.</a:t>
            </a:r>
          </a:p>
          <a:p>
            <a:endParaRPr lang="en-US" sz="1000" dirty="0" smtClean="0"/>
          </a:p>
          <a:p>
            <a:r>
              <a:rPr lang="en-US" sz="2400" dirty="0" smtClean="0"/>
              <a:t>Upgrade the Wall against NPC and players who compete against you for resources.</a:t>
            </a:r>
          </a:p>
          <a:p>
            <a:endParaRPr lang="en-US" sz="1000" dirty="0" smtClean="0"/>
          </a:p>
          <a:p>
            <a:r>
              <a:rPr lang="en-US" sz="2400" dirty="0" smtClean="0"/>
              <a:t>Spend Oil to </a:t>
            </a:r>
            <a:r>
              <a:rPr lang="en-US" sz="2400" dirty="0"/>
              <a:t>r</a:t>
            </a:r>
            <a:r>
              <a:rPr lang="en-US" sz="2400" dirty="0" smtClean="0"/>
              <a:t>esearch forgotten technologies to upgrade your stronghold and troops.</a:t>
            </a:r>
          </a:p>
          <a:p>
            <a:endParaRPr lang="en-US" sz="1000" dirty="0"/>
          </a:p>
          <a:p>
            <a:r>
              <a:rPr lang="en-US" sz="2400" dirty="0" smtClean="0"/>
              <a:t>Ask your Alliance to help you build, research and train.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051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Stronghold loop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8" y="1305365"/>
            <a:ext cx="11940772" cy="496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Production Feedback</a:t>
            </a:r>
            <a:endParaRPr lang="en-US" dirty="0"/>
          </a:p>
        </p:txBody>
      </p:sp>
      <p:sp>
        <p:nvSpPr>
          <p:cNvPr id="60" name="Content Placeholder 2"/>
          <p:cNvSpPr txBox="1">
            <a:spLocks/>
          </p:cNvSpPr>
          <p:nvPr/>
        </p:nvSpPr>
        <p:spPr>
          <a:xfrm>
            <a:off x="838199" y="1414914"/>
            <a:ext cx="6724135" cy="362259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The Stronghold is a sight to behold. Its activity reflects its status:</a:t>
            </a:r>
          </a:p>
          <a:p>
            <a:endParaRPr lang="en-US" sz="1000" dirty="0" smtClean="0"/>
          </a:p>
          <a:p>
            <a:pPr lvl="1"/>
            <a:r>
              <a:rPr lang="en-US" sz="2000" dirty="0" smtClean="0"/>
              <a:t>Collectors depart and return to the Stronghold with resources</a:t>
            </a:r>
          </a:p>
          <a:p>
            <a:pPr lvl="1"/>
            <a:endParaRPr lang="en-US" sz="1000" dirty="0" smtClean="0"/>
          </a:p>
          <a:p>
            <a:pPr lvl="1"/>
            <a:r>
              <a:rPr lang="en-US" sz="2000" dirty="0" smtClean="0"/>
              <a:t>Number of Pigs in Farm indicate food production and upgrades</a:t>
            </a:r>
          </a:p>
          <a:p>
            <a:pPr lvl="1"/>
            <a:endParaRPr lang="en-US" sz="1000" dirty="0"/>
          </a:p>
          <a:p>
            <a:pPr lvl="1"/>
            <a:r>
              <a:rPr lang="en-US" sz="2000" dirty="0" smtClean="0"/>
              <a:t>Wanderers come to your city and roam its streets as it grows in influence and power</a:t>
            </a:r>
          </a:p>
          <a:p>
            <a:pPr lvl="1"/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2"/>
          <a:stretch/>
        </p:blipFill>
        <p:spPr>
          <a:xfrm>
            <a:off x="8179873" y="1222408"/>
            <a:ext cx="3008029" cy="53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2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World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10515600" cy="532670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World Map attracts most play-time. Main resources and rewards are earned here.</a:t>
            </a:r>
          </a:p>
          <a:p>
            <a:endParaRPr lang="en-US" sz="1000" dirty="0"/>
          </a:p>
          <a:p>
            <a:r>
              <a:rPr lang="en-US" sz="2400" dirty="0"/>
              <a:t>Scout opponent strongholds before attacking them. Rally Alliance members against strong targets.</a:t>
            </a:r>
          </a:p>
          <a:p>
            <a:endParaRPr lang="en-US" sz="1000" dirty="0"/>
          </a:p>
          <a:p>
            <a:r>
              <a:rPr lang="en-US" sz="2400" dirty="0" smtClean="0"/>
              <a:t>Compete with Allies and against other players for the control of resources.</a:t>
            </a:r>
          </a:p>
          <a:p>
            <a:pPr lvl="1"/>
            <a:r>
              <a:rPr lang="en-US" sz="2000" dirty="0" smtClean="0"/>
              <a:t>Resource tiles can be occupied until being kicked out by another player and therefore are fought for every day </a:t>
            </a:r>
          </a:p>
          <a:p>
            <a:endParaRPr lang="en-US" sz="1000" dirty="0" smtClean="0"/>
          </a:p>
          <a:p>
            <a:r>
              <a:rPr lang="en-US" sz="2400" dirty="0" smtClean="0"/>
              <a:t>Partake in time-based Events for extra rewards. </a:t>
            </a:r>
          </a:p>
          <a:p>
            <a:pPr lvl="1"/>
            <a:r>
              <a:rPr lang="en-US" sz="2000" dirty="0"/>
              <a:t>A sandstorm will temporarily reveal a resource tile any player can loot</a:t>
            </a:r>
          </a:p>
          <a:p>
            <a:pPr lvl="1"/>
            <a:r>
              <a:rPr lang="en-US" sz="2000" dirty="0"/>
              <a:t>Rare </a:t>
            </a:r>
            <a:r>
              <a:rPr lang="en-US" sz="2000" dirty="0" smtClean="0"/>
              <a:t>Scavenger Bosses </a:t>
            </a:r>
            <a:r>
              <a:rPr lang="en-US" sz="2000" dirty="0"/>
              <a:t>appear for a short time and anybody can join the </a:t>
            </a:r>
            <a:r>
              <a:rPr lang="en-US" sz="2000" dirty="0" smtClean="0"/>
              <a:t>fight</a:t>
            </a:r>
          </a:p>
          <a:p>
            <a:pPr lvl="1"/>
            <a:r>
              <a:rPr lang="en-US" sz="2000" dirty="0" smtClean="0"/>
              <a:t>Complete certain Events to unlock rare blueprints and Hero Car gears</a:t>
            </a:r>
            <a:endParaRPr lang="en-US" sz="2000" dirty="0"/>
          </a:p>
          <a:p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6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 alliance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2400" dirty="0" smtClean="0"/>
              <a:t>Members can offer assistance to speed up Building, Researching </a:t>
            </a:r>
            <a:r>
              <a:rPr lang="en-US" altLang="zh-CN" sz="2400" dirty="0"/>
              <a:t>or </a:t>
            </a:r>
            <a:r>
              <a:rPr lang="en-US" altLang="zh-CN" sz="2400" dirty="0" smtClean="0"/>
              <a:t>Training.</a:t>
            </a:r>
          </a:p>
          <a:p>
            <a:pPr lvl="0"/>
            <a:endParaRPr lang="en-US" altLang="zh-CN" sz="1000" dirty="0"/>
          </a:p>
          <a:p>
            <a:pPr lvl="0"/>
            <a:r>
              <a:rPr lang="en-US" altLang="zh-CN" sz="2400" dirty="0" smtClean="0"/>
              <a:t>Join Alliance rallies for Alliance Quests or Battles.</a:t>
            </a:r>
          </a:p>
          <a:p>
            <a:pPr lvl="0"/>
            <a:endParaRPr lang="en-US" altLang="zh-CN" sz="1000" dirty="0"/>
          </a:p>
          <a:p>
            <a:pPr lvl="0"/>
            <a:r>
              <a:rPr lang="en-US" altLang="zh-CN" sz="2400" dirty="0" smtClean="0"/>
              <a:t>Completing Alliance Quests rewards members with resource, experience </a:t>
            </a:r>
            <a:r>
              <a:rPr lang="en-US" altLang="zh-CN" sz="2400" dirty="0"/>
              <a:t>and </a:t>
            </a:r>
            <a:r>
              <a:rPr lang="en-US" altLang="zh-CN" sz="2400" dirty="0" smtClean="0"/>
              <a:t>‘Alliance Contribution’, a currency used to buy special items in the Alliance Store.</a:t>
            </a:r>
          </a:p>
        </p:txBody>
      </p:sp>
    </p:spTree>
    <p:extLst>
      <p:ext uri="{BB962C8B-B14F-4D97-AF65-F5344CB8AC3E}">
        <p14:creationId xmlns:p14="http://schemas.microsoft.com/office/powerpoint/2010/main" val="337526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squads of </a:t>
            </a:r>
            <a:r>
              <a:rPr lang="en-US" dirty="0"/>
              <a:t>Road Warriors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7532716" cy="417308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Improve blueprints with better armor and weapon to build stronger vehicles.</a:t>
            </a:r>
          </a:p>
          <a:p>
            <a:endParaRPr lang="en-US" sz="1100" dirty="0" smtClean="0"/>
          </a:p>
          <a:p>
            <a:r>
              <a:rPr lang="en-US" sz="2400" dirty="0" smtClean="0"/>
              <a:t>Scrap early units to recycle resources and build stronger vehicles.</a:t>
            </a:r>
          </a:p>
          <a:p>
            <a:endParaRPr lang="en-US" sz="1000" dirty="0"/>
          </a:p>
          <a:p>
            <a:r>
              <a:rPr lang="en-US" sz="2400" dirty="0" smtClean="0"/>
              <a:t>After scouting opponents, create squads that have tactical advantage over their forces (rock/paper/scissor).</a:t>
            </a:r>
          </a:p>
          <a:p>
            <a:endParaRPr lang="en-US" sz="1000" dirty="0"/>
          </a:p>
          <a:p>
            <a:r>
              <a:rPr lang="en-US" sz="2400" dirty="0" smtClean="0"/>
              <a:t>Load special ammo for maximum damage.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676" y="2727692"/>
            <a:ext cx="1417957" cy="12194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73187" y="4412882"/>
            <a:ext cx="2622988" cy="17931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03146" y="4444628"/>
            <a:ext cx="2446053" cy="1729624"/>
          </a:xfrm>
          <a:prstGeom prst="rect">
            <a:avLst/>
          </a:prstGeom>
        </p:spPr>
      </p:pic>
      <p:sp>
        <p:nvSpPr>
          <p:cNvPr id="8" name="Arc 7"/>
          <p:cNvSpPr/>
          <p:nvPr/>
        </p:nvSpPr>
        <p:spPr>
          <a:xfrm>
            <a:off x="8026177" y="3349032"/>
            <a:ext cx="3077549" cy="3077549"/>
          </a:xfrm>
          <a:prstGeom prst="arc">
            <a:avLst>
              <a:gd name="adj1" fmla="val 17183407"/>
              <a:gd name="adj2" fmla="val 20667831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/>
          <p:cNvSpPr/>
          <p:nvPr/>
        </p:nvSpPr>
        <p:spPr>
          <a:xfrm>
            <a:off x="8030293" y="3353148"/>
            <a:ext cx="3077549" cy="3077549"/>
          </a:xfrm>
          <a:prstGeom prst="arc">
            <a:avLst>
              <a:gd name="adj1" fmla="val 3299746"/>
              <a:gd name="adj2" fmla="val 7969379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>
            <a:off x="8034413" y="3357266"/>
            <a:ext cx="3077549" cy="3077549"/>
          </a:xfrm>
          <a:prstGeom prst="arc">
            <a:avLst>
              <a:gd name="adj1" fmla="val 12043513"/>
              <a:gd name="adj2" fmla="val 14896332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3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Warriors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800" y="743197"/>
            <a:ext cx="3617440" cy="562168"/>
          </a:xfrm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70" y="1305365"/>
            <a:ext cx="7255260" cy="537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7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 your troops driving your Hero Car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6223000" cy="45702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Upgrade your Hero Car</a:t>
            </a:r>
          </a:p>
          <a:p>
            <a:pPr lvl="1"/>
            <a:r>
              <a:rPr lang="en-US" sz="2000" dirty="0" smtClean="0"/>
              <a:t>Partake Events to earn pars: engine, wheels,…</a:t>
            </a:r>
          </a:p>
          <a:p>
            <a:pPr lvl="1"/>
            <a:r>
              <a:rPr lang="en-US" sz="2000" dirty="0" smtClean="0"/>
              <a:t>Research Armor and Weapon techs to attach more powerful upgrades</a:t>
            </a:r>
          </a:p>
          <a:p>
            <a:endParaRPr lang="en-US" sz="1000" dirty="0" smtClean="0"/>
          </a:p>
          <a:p>
            <a:r>
              <a:rPr lang="en-US" sz="2400" dirty="0" smtClean="0"/>
              <a:t>Customize </a:t>
            </a:r>
            <a:r>
              <a:rPr lang="en-US" sz="2400" dirty="0"/>
              <a:t>its appearance</a:t>
            </a:r>
          </a:p>
          <a:p>
            <a:pPr lvl="1"/>
            <a:r>
              <a:rPr lang="en-US" sz="2000" dirty="0"/>
              <a:t>Choose </a:t>
            </a:r>
            <a:r>
              <a:rPr lang="en-US" sz="2000" dirty="0" smtClean="0"/>
              <a:t>the hull </a:t>
            </a:r>
            <a:r>
              <a:rPr lang="en-US" sz="2000" dirty="0" err="1" smtClean="0"/>
              <a:t>colour</a:t>
            </a:r>
            <a:r>
              <a:rPr lang="en-US" sz="2000" dirty="0" smtClean="0"/>
              <a:t> and sticker</a:t>
            </a:r>
            <a:endParaRPr lang="en-US" sz="2000" dirty="0"/>
          </a:p>
          <a:p>
            <a:endParaRPr lang="en-US" sz="1000" dirty="0" smtClean="0"/>
          </a:p>
          <a:p>
            <a:r>
              <a:rPr lang="en-US" sz="2400" dirty="0" smtClean="0"/>
              <a:t>Unlock </a:t>
            </a:r>
            <a:r>
              <a:rPr lang="en-US" sz="2400" dirty="0"/>
              <a:t>new Hero Cars post-launch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US" sz="24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662294" y="6593306"/>
            <a:ext cx="2083420" cy="2923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 smtClean="0"/>
              <a:t>Reference from Trials Frontier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700" y="1009950"/>
            <a:ext cx="3276600" cy="269008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700" y="3830975"/>
            <a:ext cx="3276600" cy="2908517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4150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Hero Care upgrade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800" y="743197"/>
            <a:ext cx="3617440" cy="562168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575" y="1222408"/>
            <a:ext cx="7388851" cy="535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9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PvP</a:t>
            </a:r>
            <a:r>
              <a:rPr lang="en-US" dirty="0" smtClean="0"/>
              <a:t> / </a:t>
            </a:r>
            <a:r>
              <a:rPr lang="en-US" dirty="0" err="1" smtClean="0"/>
              <a:t>PvE</a:t>
            </a:r>
            <a:r>
              <a:rPr lang="en-US" dirty="0" smtClean="0"/>
              <a:t> Battle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3"/>
            <a:ext cx="11057238" cy="417955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Battle is portrayed dramatically in 3D, with intro and outro camera pans.</a:t>
            </a:r>
          </a:p>
          <a:p>
            <a:endParaRPr lang="en-US" sz="1000" dirty="0" smtClean="0"/>
          </a:p>
          <a:p>
            <a:r>
              <a:rPr lang="en-US" sz="2400" dirty="0"/>
              <a:t>Prior to </a:t>
            </a:r>
            <a:r>
              <a:rPr lang="en-US" sz="2400" dirty="0" smtClean="0"/>
              <a:t>Battle, </a:t>
            </a:r>
            <a:r>
              <a:rPr lang="en-US" sz="2400" dirty="0"/>
              <a:t>the player </a:t>
            </a:r>
            <a:r>
              <a:rPr lang="en-US" sz="2400" dirty="0" smtClean="0"/>
              <a:t>sets </a:t>
            </a:r>
            <a:r>
              <a:rPr lang="en-US" sz="2400" dirty="0"/>
              <a:t>up </a:t>
            </a:r>
            <a:r>
              <a:rPr lang="en-US" sz="2400" dirty="0" smtClean="0"/>
              <a:t>his squad, placing troops on a grid.</a:t>
            </a:r>
          </a:p>
          <a:p>
            <a:endParaRPr lang="en-US" sz="1000" dirty="0"/>
          </a:p>
          <a:p>
            <a:r>
              <a:rPr lang="en-US" sz="2400" dirty="0"/>
              <a:t>The Battle is automatic. 2 armies </a:t>
            </a:r>
            <a:r>
              <a:rPr lang="en-US" sz="2400" dirty="0" smtClean="0"/>
              <a:t>drive and fight in parallel.</a:t>
            </a:r>
          </a:p>
          <a:p>
            <a:endParaRPr lang="en-US" sz="1000" dirty="0"/>
          </a:p>
          <a:p>
            <a:r>
              <a:rPr lang="en-US" sz="2400" dirty="0" smtClean="0"/>
              <a:t>Units get a damage bonus based on a </a:t>
            </a:r>
            <a:r>
              <a:rPr lang="en-US" sz="2400" dirty="0"/>
              <a:t>rock-paper-scissor </a:t>
            </a:r>
            <a:r>
              <a:rPr lang="en-US" sz="2400" dirty="0" smtClean="0"/>
              <a:t>structure.  Players learn to pick troops that can use this bonus damage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1000" dirty="0"/>
          </a:p>
          <a:p>
            <a:r>
              <a:rPr lang="en-US" sz="2400" dirty="0" smtClean="0"/>
              <a:t>The </a:t>
            </a:r>
            <a:r>
              <a:rPr lang="en-US" sz="2400" dirty="0"/>
              <a:t>Battle </a:t>
            </a:r>
            <a:r>
              <a:rPr lang="en-US" sz="2400" dirty="0" smtClean="0"/>
              <a:t>shows how player tactics were efficient, hinting on possible adjustments to win it next time.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7213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Player skills in Battle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10515600" cy="420449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Players kills can affect 20% of the battle outcome. 80% come from the vehicles.</a:t>
            </a:r>
          </a:p>
          <a:p>
            <a:endParaRPr lang="en-US" sz="1000" dirty="0" smtClean="0"/>
          </a:p>
          <a:p>
            <a:r>
              <a:rPr lang="en-US" sz="2400" dirty="0" smtClean="0"/>
              <a:t>Skills are: repairing troops, dropping bombs, shield, attack buff…</a:t>
            </a:r>
          </a:p>
          <a:p>
            <a:endParaRPr lang="en-US" sz="1000" dirty="0" smtClean="0"/>
          </a:p>
          <a:p>
            <a:r>
              <a:rPr lang="en-US" sz="2400" dirty="0" smtClean="0"/>
              <a:t>Skills are linked to the Hero Car and can be upgraded.</a:t>
            </a:r>
          </a:p>
          <a:p>
            <a:endParaRPr lang="en-US" sz="1000" dirty="0" smtClean="0"/>
          </a:p>
          <a:p>
            <a:r>
              <a:rPr lang="en-US" sz="2400" dirty="0" smtClean="0"/>
              <a:t>In </a:t>
            </a:r>
            <a:r>
              <a:rPr lang="en-US" sz="2400" dirty="0" err="1" smtClean="0"/>
              <a:t>PvP</a:t>
            </a:r>
            <a:r>
              <a:rPr lang="en-US" sz="2400" dirty="0" smtClean="0"/>
              <a:t> battle, skills are triggered automatically during battle, showing players how they can affect the battle outcome.</a:t>
            </a:r>
          </a:p>
          <a:p>
            <a:endParaRPr lang="en-US" sz="1000" dirty="0" smtClean="0"/>
          </a:p>
          <a:p>
            <a:r>
              <a:rPr lang="en-US" sz="2400" dirty="0" smtClean="0"/>
              <a:t>In </a:t>
            </a:r>
            <a:r>
              <a:rPr lang="en-US" sz="2400" dirty="0" err="1" smtClean="0"/>
              <a:t>PvE</a:t>
            </a:r>
            <a:r>
              <a:rPr lang="en-US" sz="2400" dirty="0" smtClean="0"/>
              <a:t> battle, the player chooses when to trigger those skills (cost &amp; cool-down time).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7621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952" y="1484183"/>
            <a:ext cx="2919265" cy="43307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Battle visualization</a:t>
            </a:r>
            <a:endParaRPr lang="en-US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089509" y="4470129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601735" y="3434544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955999" y="2874605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506809" y="2923487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686335" y="3079479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338683" y="3108894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134611" y="2737125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6210503" y="2043944"/>
            <a:ext cx="357316" cy="274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838200" y="1414914"/>
            <a:ext cx="3404286" cy="142037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4819135" y="5255741"/>
            <a:ext cx="449032" cy="44903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cdn1.iconfinder.com/data/icons/black-easy/512/Equipment_hummer_options_preferences_production_repair_service_setting_settings_system_tool_tools_512x51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57" y="5310263"/>
            <a:ext cx="339988" cy="33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ounded Rectangle 27"/>
          <p:cNvSpPr/>
          <p:nvPr/>
        </p:nvSpPr>
        <p:spPr>
          <a:xfrm>
            <a:off x="5491927" y="5257932"/>
            <a:ext cx="449032" cy="44903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187576" y="5257932"/>
            <a:ext cx="449032" cy="44903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6864125" y="5259807"/>
            <a:ext cx="449032" cy="44903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ttp://www.veryicon.com/icon/png/Movie%20%26%20TV/Danger%20Mouse/Bomb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838" y="5300843"/>
            <a:ext cx="363210" cy="36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cdn3.iconfinder.com/data/icons/softwaredemo/PNG/128x128/Shield_Grey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015" y="5310098"/>
            <a:ext cx="340153" cy="34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zero-k.googlecode.com/svn/trunk/mods/zk/LuaUI/Images/energy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79" y="5287666"/>
            <a:ext cx="376387" cy="37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5103437" y="5560880"/>
            <a:ext cx="152029" cy="1310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6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5773791" y="5548373"/>
            <a:ext cx="152029" cy="1310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2</a:t>
            </a:r>
            <a:endParaRPr lang="en-US" sz="1000" dirty="0"/>
          </a:p>
        </p:txBody>
      </p:sp>
      <p:sp>
        <p:nvSpPr>
          <p:cNvPr id="35" name="Rectangle 34"/>
          <p:cNvSpPr/>
          <p:nvPr/>
        </p:nvSpPr>
        <p:spPr>
          <a:xfrm>
            <a:off x="6491805" y="5564946"/>
            <a:ext cx="152029" cy="1310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5</a:t>
            </a:r>
            <a:endParaRPr lang="en-US" sz="1000" dirty="0"/>
          </a:p>
        </p:txBody>
      </p:sp>
      <p:sp>
        <p:nvSpPr>
          <p:cNvPr id="36" name="Rectangle 35"/>
          <p:cNvSpPr/>
          <p:nvPr/>
        </p:nvSpPr>
        <p:spPr>
          <a:xfrm>
            <a:off x="7174042" y="5560880"/>
            <a:ext cx="152029" cy="13103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7007841" y="4883290"/>
            <a:ext cx="280080" cy="26776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57041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iki.guildwars.com/images/thumb/4/46/Crystal_Desert_map.jpg/1000px-Crystal_Desert_map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948" y="918093"/>
            <a:ext cx="3624297" cy="5273352"/>
          </a:xfrm>
          <a:prstGeom prst="rect">
            <a:avLst/>
          </a:prstGeom>
          <a:noFill/>
          <a:effectLst>
            <a:softEdge rad="139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Campaign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6726193" cy="527421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campaign story immerses players in a world where </a:t>
            </a:r>
            <a:r>
              <a:rPr lang="en-US" sz="2400" dirty="0"/>
              <a:t>‘There is no good people</a:t>
            </a:r>
            <a:r>
              <a:rPr lang="en-US" sz="2400" dirty="0" smtClean="0"/>
              <a:t>’</a:t>
            </a:r>
            <a:endParaRPr lang="en-US" sz="2400" dirty="0"/>
          </a:p>
          <a:p>
            <a:endParaRPr lang="en-US" sz="1000" dirty="0"/>
          </a:p>
          <a:p>
            <a:r>
              <a:rPr lang="en-US" sz="2400" dirty="0" smtClean="0"/>
              <a:t>Linear </a:t>
            </a:r>
            <a:r>
              <a:rPr lang="en-US" sz="2400" dirty="0" err="1"/>
              <a:t>PvE</a:t>
            </a:r>
            <a:r>
              <a:rPr lang="en-US" sz="2400" dirty="0"/>
              <a:t> Campaign introduces 2 </a:t>
            </a:r>
            <a:r>
              <a:rPr lang="en-US" sz="2400" dirty="0" smtClean="0"/>
              <a:t>Strongholds:</a:t>
            </a:r>
          </a:p>
          <a:p>
            <a:pPr lvl="1"/>
            <a:r>
              <a:rPr lang="en-US" sz="2100" dirty="0"/>
              <a:t>The nemesis </a:t>
            </a:r>
            <a:r>
              <a:rPr lang="en-US" sz="2100" dirty="0" smtClean="0"/>
              <a:t>leader, </a:t>
            </a:r>
            <a:r>
              <a:rPr lang="en-US" sz="2100" dirty="0"/>
              <a:t>aggressive towards player</a:t>
            </a:r>
          </a:p>
          <a:p>
            <a:pPr lvl="1"/>
            <a:r>
              <a:rPr lang="en-US" sz="2000" dirty="0" smtClean="0"/>
              <a:t>The semi-friendly leader, mostly seeking collaboration but sometimes prone to back-stabbing</a:t>
            </a:r>
          </a:p>
          <a:p>
            <a:endParaRPr lang="en-US" sz="1000" dirty="0"/>
          </a:p>
          <a:p>
            <a:r>
              <a:rPr lang="en-US" sz="2400" dirty="0" smtClean="0"/>
              <a:t>The Campaign serves as tutorial, and later to unlock rewards (car parts, upgrades, etc.) </a:t>
            </a:r>
          </a:p>
          <a:p>
            <a:endParaRPr lang="en-US" sz="1000" dirty="0" smtClean="0"/>
          </a:p>
          <a:p>
            <a:r>
              <a:rPr lang="en-US" sz="2400" dirty="0" smtClean="0"/>
              <a:t>Scavenger bands appears in Events. They have different rarities and may drop epic rewards.</a:t>
            </a:r>
          </a:p>
          <a:p>
            <a:endParaRPr lang="en-US" sz="1000" dirty="0" smtClean="0"/>
          </a:p>
          <a:p>
            <a:r>
              <a:rPr lang="en-US" sz="2400" dirty="0" smtClean="0"/>
              <a:t>Max can be hired for dangerous missions.</a:t>
            </a:r>
          </a:p>
        </p:txBody>
      </p:sp>
      <p:sp>
        <p:nvSpPr>
          <p:cNvPr id="10" name="Oval 9"/>
          <p:cNvSpPr/>
          <p:nvPr/>
        </p:nvSpPr>
        <p:spPr>
          <a:xfrm>
            <a:off x="10406948" y="5332006"/>
            <a:ext cx="311332" cy="3113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915944" y="4555375"/>
            <a:ext cx="1293341" cy="7766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1"/>
                </a:solidFill>
              </a:rPr>
              <a:t>Legendary Scavengers!</a:t>
            </a:r>
          </a:p>
          <a:p>
            <a:pPr marL="0" indent="0" algn="ctr">
              <a:buNone/>
            </a:pPr>
            <a:r>
              <a:rPr lang="en-US" sz="1400" dirty="0" smtClean="0">
                <a:solidFill>
                  <a:schemeClr val="bg1"/>
                </a:solidFill>
              </a:rPr>
              <a:t>2h left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>
            <a:stCxn id="6" idx="2"/>
            <a:endCxn id="22" idx="0"/>
          </p:cNvCxnSpPr>
          <p:nvPr/>
        </p:nvCxnSpPr>
        <p:spPr>
          <a:xfrm>
            <a:off x="9109117" y="1987787"/>
            <a:ext cx="0" cy="58242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22" idx="2"/>
            <a:endCxn id="27" idx="0"/>
          </p:cNvCxnSpPr>
          <p:nvPr/>
        </p:nvCxnSpPr>
        <p:spPr>
          <a:xfrm rot="16200000" flipH="1">
            <a:off x="9207891" y="3043994"/>
            <a:ext cx="537550" cy="735099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27" idx="2"/>
            <a:endCxn id="18" idx="0"/>
          </p:cNvCxnSpPr>
          <p:nvPr/>
        </p:nvCxnSpPr>
        <p:spPr>
          <a:xfrm rot="5400000">
            <a:off x="9272760" y="4089231"/>
            <a:ext cx="407814" cy="735099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https://encrypted-tbn1.gstatic.com/images?q=tbn:ANd9GcTV3hLfVJh4mJvmcIu3enFMuPCVV1pGzkmuMMtaIxY8aUEXGLbqMpgAAs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922" y="1437396"/>
            <a:ext cx="550390" cy="5503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s://encrypted-tbn1.gstatic.com/images?q=tbn:ANd9GcTV3hLfVJh4mJvmcIu3enFMuPCVV1pGzkmuMMtaIxY8aUEXGLbqMpgAAs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922" y="4660687"/>
            <a:ext cx="550390" cy="5503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922" y="2570215"/>
            <a:ext cx="550390" cy="5725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021" y="3680319"/>
            <a:ext cx="550390" cy="5725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2" name="Content Placeholder 2"/>
          <p:cNvSpPr txBox="1">
            <a:spLocks/>
          </p:cNvSpPr>
          <p:nvPr/>
        </p:nvSpPr>
        <p:spPr>
          <a:xfrm>
            <a:off x="8128984" y="737206"/>
            <a:ext cx="2660223" cy="2923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 smtClean="0"/>
              <a:t>Placeholder characters. Final story TBD</a:t>
            </a:r>
          </a:p>
        </p:txBody>
      </p:sp>
      <p:sp>
        <p:nvSpPr>
          <p:cNvPr id="16" name="Oval 15"/>
          <p:cNvSpPr/>
          <p:nvPr/>
        </p:nvSpPr>
        <p:spPr>
          <a:xfrm>
            <a:off x="10309709" y="2312510"/>
            <a:ext cx="311332" cy="31133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818705" y="1535879"/>
            <a:ext cx="1293341" cy="7766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1"/>
                </a:solidFill>
              </a:rPr>
              <a:t>Common Scavengers!</a:t>
            </a:r>
          </a:p>
          <a:p>
            <a:pPr marL="0" indent="0" algn="ctr">
              <a:buNone/>
            </a:pPr>
            <a:r>
              <a:rPr lang="en-US" sz="1400" dirty="0" smtClean="0">
                <a:solidFill>
                  <a:schemeClr val="bg1"/>
                </a:solidFill>
              </a:rPr>
              <a:t>10h left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010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Players can join the Global Chat Room and Alliance Chat Room.</a:t>
            </a:r>
          </a:p>
          <a:p>
            <a:pPr marL="0" indent="0">
              <a:buNone/>
            </a:pPr>
            <a:endParaRPr lang="en-US" sz="1000" dirty="0" smtClean="0"/>
          </a:p>
          <a:p>
            <a:r>
              <a:rPr lang="en-US" sz="2400" dirty="0" smtClean="0"/>
              <a:t>The Chat window is present in many pages, creating a sense of community that retains players.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635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7600" y="0"/>
            <a:ext cx="2148500" cy="21252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INTERNAL ONLY: Alignment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031227"/>
              </p:ext>
            </p:extLst>
          </p:nvPr>
        </p:nvGraphicFramePr>
        <p:xfrm>
          <a:off x="838200" y="1414463"/>
          <a:ext cx="10515600" cy="55155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100454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Building dependencies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32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32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Base level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3200" kern="120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32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32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World</a:t>
                      </a:r>
                      <a:r>
                        <a:rPr lang="en-US" baseline="0" dirty="0" smtClean="0"/>
                        <a:t> Map Resource Competition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32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32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World Map </a:t>
                      </a:r>
                      <a:r>
                        <a:rPr lang="en-US" dirty="0" err="1" smtClean="0"/>
                        <a:t>PvP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Visualized</a:t>
                      </a:r>
                      <a:r>
                        <a:rPr lang="en-US" baseline="0" dirty="0" smtClean="0"/>
                        <a:t> Interactive Combat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Alliance</a:t>
                      </a:r>
                      <a:r>
                        <a:rPr lang="en-US" baseline="0" dirty="0" smtClean="0"/>
                        <a:t> help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6" name="Picture 2" descr="http://img2.wikia.nocookie.net/__cb20130909034734/battlepirates/images/0/00/BattlePirat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590" y="1480102"/>
            <a:ext cx="858577" cy="85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gameofwarapp.com/images/home/gow_title_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146" y="1480102"/>
            <a:ext cx="1797146" cy="84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gamesfiends.com/wp-content/uploads/2013/09/Dragons-of-Atlantis-Heirs-of-the-Drago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912" y="1480102"/>
            <a:ext cx="1322497" cy="84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static3.gamespot.com/uploads/scale_medium/1197/11970954/2309266-madmax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873" y="1480102"/>
            <a:ext cx="858577" cy="85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098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ONLY. From DHD to Hijack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10515600" cy="544308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Main game loop is identical:</a:t>
            </a:r>
          </a:p>
          <a:p>
            <a:pPr lvl="1"/>
            <a:endParaRPr lang="en-US" dirty="0"/>
          </a:p>
          <a:p>
            <a:endParaRPr lang="en-US" sz="1100" dirty="0"/>
          </a:p>
          <a:p>
            <a:r>
              <a:rPr lang="en-US" dirty="0" smtClean="0"/>
              <a:t>Leveraging design from DHD (not code)</a:t>
            </a:r>
          </a:p>
          <a:p>
            <a:pPr lvl="1"/>
            <a:r>
              <a:rPr lang="en-US" dirty="0" smtClean="0"/>
              <a:t>City building, Dragon upgrading, World Map &amp; Alliances</a:t>
            </a:r>
          </a:p>
          <a:p>
            <a:pPr lvl="1"/>
            <a:endParaRPr lang="en-US" sz="1100" dirty="0" smtClean="0"/>
          </a:p>
          <a:p>
            <a:r>
              <a:rPr lang="en-US" dirty="0" smtClean="0"/>
              <a:t>Main Risks are:</a:t>
            </a:r>
          </a:p>
          <a:p>
            <a:pPr lvl="1"/>
            <a:r>
              <a:rPr lang="en-US" dirty="0" smtClean="0"/>
              <a:t>Little code is reused from DHD. Team estimates that it’s hard to add new features to DHD code. Also most team members are new and not coming from DHD</a:t>
            </a:r>
          </a:p>
          <a:p>
            <a:pPr lvl="1"/>
            <a:r>
              <a:rPr lang="en-US" dirty="0" smtClean="0"/>
              <a:t>Resource ramping is slower than expected and impacts complexity of launch features</a:t>
            </a:r>
            <a:endParaRPr lang="en-US" dirty="0"/>
          </a:p>
          <a:p>
            <a:pPr lvl="1"/>
            <a:r>
              <a:rPr lang="en-US" dirty="0" smtClean="0"/>
              <a:t>Team has little experience in 3D battle</a:t>
            </a:r>
          </a:p>
          <a:p>
            <a:pPr lvl="1"/>
            <a:r>
              <a:rPr lang="en-US" dirty="0" smtClean="0"/>
              <a:t>Alliances and Chat features similar to </a:t>
            </a:r>
            <a:r>
              <a:rPr lang="en-US" i="1" dirty="0" smtClean="0"/>
              <a:t>Game of War </a:t>
            </a:r>
            <a:r>
              <a:rPr lang="en-US" dirty="0" smtClean="0"/>
              <a:t>may be hard to complete before WW release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20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914"/>
            <a:ext cx="10515600" cy="544308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Main New features:</a:t>
            </a:r>
          </a:p>
          <a:p>
            <a:pPr lvl="1"/>
            <a:r>
              <a:rPr lang="en-US" dirty="0"/>
              <a:t>Visualized &amp; interactive 3D Battle. </a:t>
            </a:r>
            <a:r>
              <a:rPr lang="en-US" dirty="0" smtClean="0"/>
              <a:t>Ranked </a:t>
            </a:r>
            <a:r>
              <a:rPr lang="en-US" dirty="0"/>
              <a:t>high by consumers.</a:t>
            </a:r>
          </a:p>
          <a:p>
            <a:pPr lvl="1"/>
            <a:r>
              <a:rPr lang="en-US" dirty="0"/>
              <a:t>Competitive World Map. One of main features to allow </a:t>
            </a:r>
            <a:r>
              <a:rPr lang="en-US" i="1" dirty="0"/>
              <a:t>Game of War </a:t>
            </a:r>
            <a:r>
              <a:rPr lang="en-US" dirty="0"/>
              <a:t>to outperform DHD.</a:t>
            </a:r>
          </a:p>
          <a:p>
            <a:pPr lvl="1"/>
            <a:r>
              <a:rPr lang="en-US" dirty="0" smtClean="0"/>
              <a:t>Campaign</a:t>
            </a:r>
            <a:r>
              <a:rPr lang="en-US" dirty="0"/>
              <a:t>. Recent CI survey shows that audience ranks at the top a </a:t>
            </a:r>
            <a:r>
              <a:rPr lang="en-US" dirty="0" err="1"/>
              <a:t>PvE</a:t>
            </a:r>
            <a:r>
              <a:rPr lang="en-US" dirty="0"/>
              <a:t> Campaign. </a:t>
            </a:r>
          </a:p>
          <a:p>
            <a:endParaRPr lang="en-US" sz="1100" dirty="0"/>
          </a:p>
          <a:p>
            <a:r>
              <a:rPr lang="en-US" dirty="0" smtClean="0"/>
              <a:t>Leveraging design from DHD (not code)</a:t>
            </a:r>
          </a:p>
          <a:p>
            <a:pPr lvl="1"/>
            <a:r>
              <a:rPr lang="en-US" dirty="0" smtClean="0"/>
              <a:t>City building, Dragon upgrading, World Map &amp; Alliances</a:t>
            </a:r>
          </a:p>
          <a:p>
            <a:pPr lvl="1"/>
            <a:endParaRPr lang="en-US" sz="1100" dirty="0" smtClean="0"/>
          </a:p>
          <a:p>
            <a:r>
              <a:rPr lang="en-US" dirty="0" smtClean="0"/>
              <a:t>Main Risks are:</a:t>
            </a:r>
          </a:p>
          <a:p>
            <a:pPr lvl="1"/>
            <a:r>
              <a:rPr lang="en-US" dirty="0" smtClean="0"/>
              <a:t>Little code is reused from DHD. Team estimates that it’s hard to add new features to DHD code. Also most team members are new and not coming from DHD</a:t>
            </a:r>
          </a:p>
          <a:p>
            <a:pPr lvl="1"/>
            <a:r>
              <a:rPr lang="en-US" dirty="0" smtClean="0"/>
              <a:t>Resource ramping is slower than expected and impacts complexity of launch features</a:t>
            </a:r>
            <a:endParaRPr lang="en-US" dirty="0"/>
          </a:p>
          <a:p>
            <a:pPr lvl="1"/>
            <a:r>
              <a:rPr lang="en-US" dirty="0" smtClean="0"/>
              <a:t>Team has little experience in 3D battle</a:t>
            </a:r>
          </a:p>
          <a:p>
            <a:pPr lvl="1"/>
            <a:r>
              <a:rPr lang="en-US" dirty="0" smtClean="0"/>
              <a:t>Alliances and Chat features similar to </a:t>
            </a:r>
            <a:r>
              <a:rPr lang="en-US" i="1" dirty="0" smtClean="0"/>
              <a:t>Game of War </a:t>
            </a:r>
            <a:r>
              <a:rPr lang="en-US" dirty="0" smtClean="0"/>
              <a:t>may be hard to complete before WW release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90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4005</TotalTime>
  <Words>1391</Words>
  <Application>Microsoft Office PowerPoint</Application>
  <PresentationFormat>宽屏</PresentationFormat>
  <Paragraphs>212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宋体</vt:lpstr>
      <vt:lpstr>Arial</vt:lpstr>
      <vt:lpstr>Berlin Sans FB Demi</vt:lpstr>
      <vt:lpstr>Calibri</vt:lpstr>
      <vt:lpstr>Calibri Light</vt:lpstr>
      <vt:lpstr>Office Theme</vt:lpstr>
      <vt:lpstr>DESIGN OVERVIEW</vt:lpstr>
      <vt:lpstr>Overview</vt:lpstr>
      <vt:lpstr>Mad Max Pillars</vt:lpstr>
      <vt:lpstr>Key Features</vt:lpstr>
      <vt:lpstr>Manage your stronghold</vt:lpstr>
      <vt:lpstr>Stronghold loop</vt:lpstr>
      <vt:lpstr>Production Feedback</vt:lpstr>
      <vt:lpstr>World Map</vt:lpstr>
      <vt:lpstr>Join alliance</vt:lpstr>
      <vt:lpstr>Build squads of Road Warriors</vt:lpstr>
      <vt:lpstr>Road Warriors Loop</vt:lpstr>
      <vt:lpstr>Lead your troops driving your Hero Car</vt:lpstr>
      <vt:lpstr>Hero Care upgrade loop</vt:lpstr>
      <vt:lpstr>PvP / PvE Battle</vt:lpstr>
      <vt:lpstr>Player skills in Battle</vt:lpstr>
      <vt:lpstr>Battle visualization</vt:lpstr>
      <vt:lpstr>Campaign</vt:lpstr>
      <vt:lpstr>Social features</vt:lpstr>
      <vt:lpstr>INTERNAL ONLY: Alignment</vt:lpstr>
      <vt:lpstr>INTERNAL ONLY. From DHD to Hijack</vt:lpstr>
      <vt:lpstr>INTERNAL ONLY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Florian Dhesse</dc:creator>
  <cp:lastModifiedBy>Fu Song</cp:lastModifiedBy>
  <cp:revision>141</cp:revision>
  <dcterms:created xsi:type="dcterms:W3CDTF">2014-06-09T09:07:49Z</dcterms:created>
  <dcterms:modified xsi:type="dcterms:W3CDTF">2014-07-22T11:12:17Z</dcterms:modified>
</cp:coreProperties>
</file>